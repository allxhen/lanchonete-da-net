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5EA80D-933F-A3A4-FA99-58C228CD7BE5}" v="2" dt="2026-10-29T12:06:00.9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COLUCCI RIBEIRO" userId="S::gabriel.cribeiro6@senacsp.edu.br::e002a6e5-0d54-42a8-a6e0-d41c1f1a7d74" providerId="AD" clId="Web-{375EA80D-933F-A3A4-FA99-58C228CD7BE5}"/>
    <pc:docChg chg="modSld">
      <pc:chgData name="GABRIEL COLUCCI RIBEIRO" userId="S::gabriel.cribeiro6@senacsp.edu.br::e002a6e5-0d54-42a8-a6e0-d41c1f1a7d74" providerId="AD" clId="Web-{375EA80D-933F-A3A4-FA99-58C228CD7BE5}" dt="2026-10-29T12:06:00.977" v="1" actId="1076"/>
      <pc:docMkLst>
        <pc:docMk/>
      </pc:docMkLst>
      <pc:sldChg chg="modSp">
        <pc:chgData name="GABRIEL COLUCCI RIBEIRO" userId="S::gabriel.cribeiro6@senacsp.edu.br::e002a6e5-0d54-42a8-a6e0-d41c1f1a7d74" providerId="AD" clId="Web-{375EA80D-933F-A3A4-FA99-58C228CD7BE5}" dt="2026-10-29T12:06:00.977" v="1" actId="1076"/>
        <pc:sldMkLst>
          <pc:docMk/>
          <pc:sldMk cId="0" sldId="259"/>
        </pc:sldMkLst>
        <pc:spChg chg="mod">
          <ac:chgData name="GABRIEL COLUCCI RIBEIRO" userId="S::gabriel.cribeiro6@senacsp.edu.br::e002a6e5-0d54-42a8-a6e0-d41c1f1a7d74" providerId="AD" clId="Web-{375EA80D-933F-A3A4-FA99-58C228CD7BE5}" dt="2026-10-29T12:06:00.977" v="1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GABRIEL COLUCCI RIBEIRO" userId="S::gabriel.cribeiro6@senacsp.edu.br::e002a6e5-0d54-42a8-a6e0-d41c1f1a7d74" providerId="AD" clId="Web-{375EA80D-933F-A3A4-FA99-58C228CD7BE5}" dt="2026-10-29T12:05:57.383" v="0" actId="1076"/>
          <ac:spMkLst>
            <pc:docMk/>
            <pc:sldMk cId="0" sldId="259"/>
            <ac:spMk id="1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9D187F-7726-4B6D-8697-B731A2DA408B}" type="datetimeFigureOut">
              <a:t>10/29/2026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184E6-A237-4EC7-9CB2-CF3FDF08650D}" type="slidenum"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508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/>
          </a:p>
        </p:txBody>
      </p:sp>
      <p:sp>
        <p:nvSpPr>
          <p:cNvPr id="4" name="Shape 2"/>
          <p:cNvSpPr/>
          <p:nvPr/>
        </p:nvSpPr>
        <p:spPr>
          <a:xfrm>
            <a:off x="6035040" y="914400"/>
            <a:ext cx="2468880" cy="2468880"/>
          </a:xfrm>
          <a:prstGeom prst="ellipse">
            <a:avLst/>
          </a:prstGeom>
          <a:solidFill>
            <a:srgbClr val="2E2552"/>
          </a:solidFill>
          <a:ln w="50800">
            <a:solidFill>
              <a:srgbClr val="B9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0" y="914400"/>
            <a:ext cx="2468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720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 EM GRUPO · 4 HORAS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Lanchonete Senac</a:t>
            </a:r>
            <a:endParaRPr lang="en-US" sz="400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vendas da semana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 · matrizes · métodos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em Desenvolvimento de Sistemas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MISSÃO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lanchonete quer saber o que vende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612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CLIENTE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21792" y="1472184"/>
            <a:ext cx="479145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lanchonete da escola vende 5 produtos, de segunda a sexta.</a:t>
            </a:r>
            <a:endParaRPr lang="en-US" sz="1250"/>
          </a:p>
          <a:p>
            <a:pPr marL="0" indent="0">
              <a:spcAft>
                <a:spcPts val="500"/>
              </a:spcAft>
              <a:buNone/>
            </a:pPr>
            <a:r>
              <a:rPr lang="en-US" sz="12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dona anota as vendas num caderno e no fim da semana não sabe quanto faturou, nem o que vende mais.</a:t>
            </a:r>
            <a:endParaRPr lang="en-US" sz="1250"/>
          </a:p>
          <a:p>
            <a:pPr marL="0" indent="0">
              <a:spcAft>
                <a:spcPts val="500"/>
              </a:spcAft>
              <a:buNone/>
            </a:pPr>
            <a:r>
              <a:rPr lang="en-US" sz="12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são a equipe contratada para fazer o sistema que responde isso.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760720" y="105156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25312" y="11612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VAI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5925312" y="1472184"/>
            <a:ext cx="259689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cardápio</a:t>
            </a:r>
            <a:endParaRPr lang="en-US" sz="1250"/>
          </a:p>
          <a:p>
            <a:pPr marL="0" indent="0">
              <a:spcAft>
                <a:spcPts val="500"/>
              </a:spcAft>
              <a:buNone/>
            </a:pPr>
            <a:r>
              <a:rPr lang="en-US" sz="12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vendas</a:t>
            </a:r>
            <a:endParaRPr lang="en-US" sz="1250"/>
          </a:p>
          <a:p>
            <a:pPr marL="0" indent="0">
              <a:spcAft>
                <a:spcPts val="500"/>
              </a:spcAft>
              <a:buNone/>
            </a:pPr>
            <a:r>
              <a:rPr lang="en-US" sz="12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por produto e por dia</a:t>
            </a:r>
            <a:endParaRPr lang="en-US" sz="1250"/>
          </a:p>
          <a:p>
            <a:pPr marL="0" indent="0">
              <a:spcAft>
                <a:spcPts val="500"/>
              </a:spcAft>
              <a:buNone/>
            </a:pPr>
            <a:r>
              <a:rPr lang="en-US" sz="12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da semana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1947672" cy="868680"/>
          </a:xfrm>
          <a:prstGeom prst="roundRect">
            <a:avLst>
              <a:gd name="adj" fmla="val 8421"/>
            </a:avLst>
          </a:prstGeom>
          <a:solidFill>
            <a:srgbClr val="231C3F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00400"/>
            <a:ext cx="1947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</a:t>
            </a:r>
            <a:endParaRPr lang="en-US" sz="1400"/>
          </a:p>
          <a:p>
            <a:pPr marL="0" indent="0" algn="ctr">
              <a:buNone/>
            </a:pPr>
            <a:r>
              <a:rPr lang="en-US" sz="11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de vendas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2551176" y="3200400"/>
            <a:ext cx="1947672" cy="868680"/>
          </a:xfrm>
          <a:prstGeom prst="roundRect">
            <a:avLst>
              <a:gd name="adj" fmla="val 8421"/>
            </a:avLst>
          </a:prstGeom>
          <a:solidFill>
            <a:srgbClr val="231C3F"/>
          </a:solidFill>
          <a:ln w="19050">
            <a:solidFill>
              <a:srgbClr val="5FD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51176" y="3200400"/>
            <a:ext cx="1947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5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Vetores</a:t>
            </a:r>
            <a:endParaRPr lang="en-US" sz="1400"/>
          </a:p>
          <a:p>
            <a:pPr marL="0" indent="0" algn="ctr">
              <a:buNone/>
            </a:pPr>
            <a:r>
              <a:rPr lang="en-US" sz="11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produtos, preços, dias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645152" y="3200400"/>
            <a:ext cx="1947672" cy="868680"/>
          </a:xfrm>
          <a:prstGeom prst="roundRect">
            <a:avLst>
              <a:gd name="adj" fmla="val 8421"/>
            </a:avLst>
          </a:prstGeom>
          <a:solidFill>
            <a:srgbClr val="231C3F"/>
          </a:solidFill>
          <a:ln w="19050">
            <a:solidFill>
              <a:srgbClr val="7BE0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3200400"/>
            <a:ext cx="1947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400"/>
          </a:p>
          <a:p>
            <a:pPr marL="0" indent="0" algn="ctr">
              <a:buNone/>
            </a:pPr>
            <a:r>
              <a:rPr lang="en-US" sz="11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cálculo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6739128" y="3200400"/>
            <a:ext cx="1947672" cy="868680"/>
          </a:xfrm>
          <a:prstGeom prst="roundRect">
            <a:avLst>
              <a:gd name="adj" fmla="val 8421"/>
            </a:avLst>
          </a:prstGeom>
          <a:solidFill>
            <a:srgbClr val="231C3F"/>
          </a:solidFill>
          <a:ln w="19050">
            <a:solidFill>
              <a:srgbClr val="F7A2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3200400"/>
            <a:ext cx="1947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7A2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+ switch</a:t>
            </a:r>
            <a:endParaRPr lang="en-US" sz="1400"/>
          </a:p>
          <a:p>
            <a:pPr marL="0" indent="0" algn="ctr">
              <a:buNone/>
            </a:pPr>
            <a:r>
              <a:rPr lang="en-US" sz="11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menu (Aula 2)</a:t>
            </a:r>
            <a:endParaRPr lang="en-US" sz="1400"/>
          </a:p>
        </p:txBody>
      </p:sp>
      <p:sp>
        <p:nvSpPr>
          <p:cNvPr id="20" name="Shape 18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o que vocês viram na aula passada, junto num programa de verdade.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GRUPOS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 4 pessoas, cada uma com um papel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41648" cy="1051560"/>
          </a:xfrm>
          <a:prstGeom prst="roundRect">
            <a:avLst>
              <a:gd name="adj" fmla="val 6957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097280" y="10515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Organizador</a:t>
            </a:r>
            <a:endParaRPr lang="en-US" sz="1400"/>
          </a:p>
          <a:p>
            <a:pPr marL="0" indent="0"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 do Main e do menu. Junta as partes e confere se tudo roda.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645152" y="1051560"/>
            <a:ext cx="4041648" cy="1051560"/>
          </a:xfrm>
          <a:prstGeom prst="roundRect">
            <a:avLst>
              <a:gd name="adj" fmla="val 6957"/>
            </a:avLst>
          </a:prstGeom>
          <a:solidFill>
            <a:srgbClr val="231C3F"/>
          </a:solidFill>
          <a:ln w="15875">
            <a:solidFill>
              <a:srgbClr val="5FD3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28032" y="1417320"/>
            <a:ext cx="310896" cy="310896"/>
          </a:xfrm>
          <a:prstGeom prst="ellipse">
            <a:avLst/>
          </a:prstGeom>
          <a:solidFill>
            <a:srgbClr val="5FD3E6"/>
          </a:solidFill>
          <a:ln w="12700">
            <a:solidFill>
              <a:srgbClr val="5FD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5285232" y="10515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5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Cardápio</a:t>
            </a:r>
            <a:endParaRPr lang="en-US" sz="1400"/>
          </a:p>
          <a:p>
            <a:pPr marL="0" indent="0"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MostrarMenu, MostrarCardapio e CodigoValido.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4041648" cy="1051560"/>
          </a:xfrm>
          <a:prstGeom prst="roundRect">
            <a:avLst>
              <a:gd name="adj" fmla="val 6957"/>
            </a:avLst>
          </a:prstGeom>
          <a:solidFill>
            <a:srgbClr val="231C3F"/>
          </a:solidFill>
          <a:ln w="15875">
            <a:solidFill>
              <a:srgbClr val="7BE0A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606040"/>
            <a:ext cx="310896" cy="310896"/>
          </a:xfrm>
          <a:prstGeom prst="ellipse">
            <a:avLst/>
          </a:prstGeom>
          <a:solidFill>
            <a:srgbClr val="7BE0A6"/>
          </a:solidFill>
          <a:ln w="12700">
            <a:solidFill>
              <a:srgbClr val="7BE0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097280" y="22402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400"/>
          </a:p>
          <a:p>
            <a:pPr marL="0" indent="0"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RegistrarVenda, TotalProduto e TotalDia.</a:t>
            </a:r>
            <a:endParaRPr lang="en-US" sz="1400"/>
          </a:p>
        </p:txBody>
      </p:sp>
      <p:sp>
        <p:nvSpPr>
          <p:cNvPr id="18" name="Shape 16"/>
          <p:cNvSpPr/>
          <p:nvPr/>
        </p:nvSpPr>
        <p:spPr>
          <a:xfrm>
            <a:off x="4645152" y="2240280"/>
            <a:ext cx="4041648" cy="1051560"/>
          </a:xfrm>
          <a:prstGeom prst="roundRect">
            <a:avLst>
              <a:gd name="adj" fmla="val 6957"/>
            </a:avLst>
          </a:prstGeom>
          <a:solidFill>
            <a:srgbClr val="231C3F"/>
          </a:solidFill>
          <a:ln w="15875">
            <a:solidFill>
              <a:srgbClr val="FFC9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2606040"/>
            <a:ext cx="310896" cy="310896"/>
          </a:xfrm>
          <a:prstGeom prst="ellipse">
            <a:avLst/>
          </a:prstGeom>
          <a:solidFill>
            <a:srgbClr val="FFC94A"/>
          </a:solidFill>
          <a:ln w="12700">
            <a:solidFill>
              <a:srgbClr val="FFC9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2606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5285232" y="22402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400"/>
          </a:p>
          <a:p>
            <a:pPr marL="0" indent="0"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FaturamentoProduto, FaturamentoSemana, ProdutoCampeao e DiaMaisMovimentado.</a:t>
            </a:r>
            <a:endParaRPr lang="en-US" sz="140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3602736"/>
            <a:ext cx="790041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de 3? </a:t>
            </a: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organizador também faz o resumo. </a:t>
            </a:r>
            <a:r>
              <a:rPr lang="en-US" sz="1200" b="1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faz a sua parte, mas TODOS precisam saber explicar o código inteiro.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apresentação o professor escolhe quem explica cada método. Não dá para saber só a sua parte.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DEVE FUNCIONAR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programa rodando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291840" cy="1965960"/>
          </a:xfrm>
          <a:prstGeom prst="rect">
            <a:avLst/>
          </a:prstGeom>
          <a:solidFill>
            <a:srgbClr val="0A0A0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3291840" cy="219456"/>
          </a:xfrm>
          <a:prstGeom prst="rect">
            <a:avLst/>
          </a:prstGeom>
          <a:solidFill>
            <a:srgbClr val="2B2B2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de Depuração do Microsoft Visual Studio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594360" y="1344168"/>
            <a:ext cx="301752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LANCHONETE SENAC =====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Ver cardápio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 Registrar venda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3 - Relatório por produto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 Relatório por dia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5 - Resumo da semana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0 - Sair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Opção: 3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924950" y="1051560"/>
            <a:ext cx="4754880" cy="1965960"/>
          </a:xfrm>
          <a:prstGeom prst="rect">
            <a:avLst/>
          </a:prstGeom>
          <a:solidFill>
            <a:srgbClr val="0A0A0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051560"/>
            <a:ext cx="4754880" cy="219456"/>
          </a:xfrm>
          <a:prstGeom prst="rect">
            <a:avLst/>
          </a:prstGeom>
          <a:solidFill>
            <a:srgbClr val="2B2B2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05156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de Depuração do Microsoft Visual Studio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4110897" y="1344168"/>
            <a:ext cx="44805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POR PRODUTO =====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Coxinha: 75 unidades | R$ 525,00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Pão de queijo: 53 unidades | R$ 265,00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Suco: 36 unidades | R$ 216,00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Café: 104 unidades | R$ 416,00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Bolo: 20 unidades | R$ 160,00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023360" cy="1051560"/>
          </a:xfrm>
          <a:prstGeom prst="rect">
            <a:avLst/>
          </a:prstGeom>
          <a:solidFill>
            <a:srgbClr val="0A0A0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54680"/>
            <a:ext cx="4023360" cy="219456"/>
          </a:xfrm>
          <a:prstGeom prst="rect">
            <a:avLst/>
          </a:prstGeom>
          <a:solidFill>
            <a:srgbClr val="2B2B2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54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de Depuração do Microsoft Visual Studio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594360" y="3447288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 (1 a 5): 5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 (1 = Seg ... 5 = Sex): 1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Quantidade: 10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Venda registrada: 10 x Bolo na Seg.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663440" y="3154680"/>
            <a:ext cx="4023360" cy="1051560"/>
          </a:xfrm>
          <a:prstGeom prst="rect">
            <a:avLst/>
          </a:prstGeom>
          <a:solidFill>
            <a:srgbClr val="0A0A0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54680"/>
            <a:ext cx="4023360" cy="219456"/>
          </a:xfrm>
          <a:prstGeom prst="rect">
            <a:avLst/>
          </a:prstGeom>
          <a:solidFill>
            <a:srgbClr val="2B2B2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154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de Depuração do Microsoft Visual Studio</a:t>
            </a:r>
            <a:endParaRPr lang="en-US" sz="850"/>
          </a:p>
        </p:txBody>
      </p:sp>
      <p:sp>
        <p:nvSpPr>
          <p:cNvPr id="21" name="Text 19"/>
          <p:cNvSpPr/>
          <p:nvPr/>
        </p:nvSpPr>
        <p:spPr>
          <a:xfrm>
            <a:off x="4800600" y="3447288"/>
            <a:ext cx="37490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RESUMO DA SEMANA =====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Faturamento: R$ 1582,00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Produto mais vendido: Café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 mais movimentado: Sex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vetores e uma matriz (já vêm prontos no Main)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120640" cy="1024128"/>
          </a:xfrm>
          <a:prstGeom prst="roundRect">
            <a:avLst>
              <a:gd name="adj" fmla="val 7143"/>
            </a:avLst>
          </a:prstGeom>
          <a:solidFill>
            <a:srgbClr val="0D0A1C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43000"/>
            <a:ext cx="484632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6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produtos = {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"Coxinha"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"Pão de queijo"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860"/>
          </a:p>
          <a:p>
            <a:pPr marL="0" indent="0">
              <a:buNone/>
            </a:pP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"Suco"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"Café"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"Bolo"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sz="860"/>
          </a:p>
          <a:p>
            <a:pPr marL="0" indent="0">
              <a:buNone/>
            </a:pPr>
            <a:r>
              <a:rPr lang="en-US" sz="86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precos = { </a:t>
            </a:r>
            <a:r>
              <a:rPr lang="en-US" sz="86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7.0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5.0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4.0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8.0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sz="860"/>
          </a:p>
          <a:p>
            <a:pPr marL="0" indent="0">
              <a:buNone/>
            </a:pPr>
            <a:r>
              <a:rPr lang="en-US" sz="86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dias = {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"Seg"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"Ter"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"Qua"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"Qui"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86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"Sex"</a:t>
            </a:r>
            <a:r>
              <a:rPr lang="en-US" sz="86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};</a:t>
            </a:r>
            <a:endParaRPr lang="en-US" sz="860"/>
          </a:p>
        </p:txBody>
      </p:sp>
      <p:sp>
        <p:nvSpPr>
          <p:cNvPr id="8" name="Text 6"/>
          <p:cNvSpPr/>
          <p:nvPr/>
        </p:nvSpPr>
        <p:spPr>
          <a:xfrm>
            <a:off x="1874520" y="21031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Seg</a:t>
            </a:r>
            <a:endParaRPr lang="en-US" sz="850"/>
          </a:p>
        </p:txBody>
      </p:sp>
      <p:sp>
        <p:nvSpPr>
          <p:cNvPr id="9" name="Text 7"/>
          <p:cNvSpPr/>
          <p:nvPr/>
        </p:nvSpPr>
        <p:spPr>
          <a:xfrm>
            <a:off x="2423160" y="21031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Ter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2971800" y="21031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Qua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3520440" y="21031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Qui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4069080" y="2103120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Sex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457200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Coxinha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1874520" y="2331720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74520" y="2331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2423160" y="2331720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331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2971800" y="2331720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2331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3520440" y="2331720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331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4069080" y="2331720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9080" y="23317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4663440" y="2331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R$ 7,00</a:t>
            </a:r>
            <a:endParaRPr lang="en-US" sz="900"/>
          </a:p>
        </p:txBody>
      </p:sp>
      <p:sp>
        <p:nvSpPr>
          <p:cNvPr id="25" name="Text 23"/>
          <p:cNvSpPr/>
          <p:nvPr/>
        </p:nvSpPr>
        <p:spPr>
          <a:xfrm>
            <a:off x="457200" y="26609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Pão de queijo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1874520" y="2660904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874520" y="2660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2423160" y="2660904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2660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2971800" y="2660904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2660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3520440" y="2660904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2660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/>
          </a:p>
        </p:txBody>
      </p:sp>
      <p:sp>
        <p:nvSpPr>
          <p:cNvPr id="34" name="Shape 32"/>
          <p:cNvSpPr/>
          <p:nvPr/>
        </p:nvSpPr>
        <p:spPr>
          <a:xfrm>
            <a:off x="4069080" y="2660904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2660904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4663440" y="26609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R$ 5,00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457200" y="2990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Suco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1874520" y="2990088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74520" y="2990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2423160" y="2990088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23160" y="2990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/>
          </a:p>
        </p:txBody>
      </p:sp>
      <p:sp>
        <p:nvSpPr>
          <p:cNvPr id="42" name="Shape 40"/>
          <p:cNvSpPr/>
          <p:nvPr/>
        </p:nvSpPr>
        <p:spPr>
          <a:xfrm>
            <a:off x="2971800" y="2990088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71800" y="2990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/>
          </a:p>
        </p:txBody>
      </p:sp>
      <p:sp>
        <p:nvSpPr>
          <p:cNvPr id="44" name="Shape 42"/>
          <p:cNvSpPr/>
          <p:nvPr/>
        </p:nvSpPr>
        <p:spPr>
          <a:xfrm>
            <a:off x="3520440" y="2990088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990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/>
          </a:p>
        </p:txBody>
      </p:sp>
      <p:sp>
        <p:nvSpPr>
          <p:cNvPr id="46" name="Shape 44"/>
          <p:cNvSpPr/>
          <p:nvPr/>
        </p:nvSpPr>
        <p:spPr>
          <a:xfrm>
            <a:off x="4069080" y="2990088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69080" y="2990088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4663440" y="2990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R$ 6,00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457200" y="33192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Café</a:t>
            </a:r>
            <a:endParaRPr lang="en-US" sz="900"/>
          </a:p>
        </p:txBody>
      </p:sp>
      <p:sp>
        <p:nvSpPr>
          <p:cNvPr id="50" name="Shape 48"/>
          <p:cNvSpPr/>
          <p:nvPr/>
        </p:nvSpPr>
        <p:spPr>
          <a:xfrm>
            <a:off x="1874520" y="3319272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74520" y="331927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/>
          </a:p>
        </p:txBody>
      </p:sp>
      <p:sp>
        <p:nvSpPr>
          <p:cNvPr id="52" name="Shape 50"/>
          <p:cNvSpPr/>
          <p:nvPr/>
        </p:nvSpPr>
        <p:spPr>
          <a:xfrm>
            <a:off x="2423160" y="3319272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423160" y="331927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/>
          </a:p>
        </p:txBody>
      </p:sp>
      <p:sp>
        <p:nvSpPr>
          <p:cNvPr id="54" name="Shape 52"/>
          <p:cNvSpPr/>
          <p:nvPr/>
        </p:nvSpPr>
        <p:spPr>
          <a:xfrm>
            <a:off x="2971800" y="3319272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971800" y="331927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/>
          </a:p>
        </p:txBody>
      </p:sp>
      <p:sp>
        <p:nvSpPr>
          <p:cNvPr id="56" name="Shape 54"/>
          <p:cNvSpPr/>
          <p:nvPr/>
        </p:nvSpPr>
        <p:spPr>
          <a:xfrm>
            <a:off x="3520440" y="3319272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331927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/>
          </a:p>
        </p:txBody>
      </p:sp>
      <p:sp>
        <p:nvSpPr>
          <p:cNvPr id="58" name="Shape 56"/>
          <p:cNvSpPr/>
          <p:nvPr/>
        </p:nvSpPr>
        <p:spPr>
          <a:xfrm>
            <a:off x="4069080" y="3319272"/>
            <a:ext cx="512064" cy="292608"/>
          </a:xfrm>
          <a:prstGeom prst="rect">
            <a:avLst/>
          </a:prstGeom>
          <a:solidFill>
            <a:srgbClr val="B98CFF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69080" y="331927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511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/>
          </a:p>
        </p:txBody>
      </p:sp>
      <p:sp>
        <p:nvSpPr>
          <p:cNvPr id="60" name="Text 58"/>
          <p:cNvSpPr/>
          <p:nvPr/>
        </p:nvSpPr>
        <p:spPr>
          <a:xfrm>
            <a:off x="4663440" y="33192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R$ 4,00</a:t>
            </a:r>
            <a:endParaRPr lang="en-US" sz="900"/>
          </a:p>
        </p:txBody>
      </p:sp>
      <p:sp>
        <p:nvSpPr>
          <p:cNvPr id="61" name="Text 59"/>
          <p:cNvSpPr/>
          <p:nvPr/>
        </p:nvSpPr>
        <p:spPr>
          <a:xfrm>
            <a:off x="457200" y="36484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Bolo</a:t>
            </a:r>
            <a:endParaRPr lang="en-US" sz="900"/>
          </a:p>
        </p:txBody>
      </p:sp>
      <p:sp>
        <p:nvSpPr>
          <p:cNvPr id="62" name="Shape 60"/>
          <p:cNvSpPr/>
          <p:nvPr/>
        </p:nvSpPr>
        <p:spPr>
          <a:xfrm>
            <a:off x="1874520" y="3648456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874520" y="364845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/>
          </a:p>
        </p:txBody>
      </p:sp>
      <p:sp>
        <p:nvSpPr>
          <p:cNvPr id="64" name="Shape 62"/>
          <p:cNvSpPr/>
          <p:nvPr/>
        </p:nvSpPr>
        <p:spPr>
          <a:xfrm>
            <a:off x="2423160" y="3648456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23160" y="364845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/>
          </a:p>
        </p:txBody>
      </p:sp>
      <p:sp>
        <p:nvSpPr>
          <p:cNvPr id="66" name="Shape 64"/>
          <p:cNvSpPr/>
          <p:nvPr/>
        </p:nvSpPr>
        <p:spPr>
          <a:xfrm>
            <a:off x="2971800" y="3648456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71800" y="364845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/>
          </a:p>
        </p:txBody>
      </p:sp>
      <p:sp>
        <p:nvSpPr>
          <p:cNvPr id="68" name="Shape 66"/>
          <p:cNvSpPr/>
          <p:nvPr/>
        </p:nvSpPr>
        <p:spPr>
          <a:xfrm>
            <a:off x="3520440" y="3648456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20440" y="364845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/>
          </a:p>
        </p:txBody>
      </p:sp>
      <p:sp>
        <p:nvSpPr>
          <p:cNvPr id="70" name="Shape 68"/>
          <p:cNvSpPr/>
          <p:nvPr/>
        </p:nvSpPr>
        <p:spPr>
          <a:xfrm>
            <a:off x="4069080" y="3648456"/>
            <a:ext cx="512064" cy="292608"/>
          </a:xfrm>
          <a:prstGeom prst="rect">
            <a:avLst/>
          </a:prstGeom>
          <a:solidFill>
            <a:srgbClr val="2E2552"/>
          </a:solidFill>
          <a:ln w="9525">
            <a:solidFill>
              <a:srgbClr val="3D347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69080" y="3648456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/>
          </a:p>
        </p:txBody>
      </p:sp>
      <p:sp>
        <p:nvSpPr>
          <p:cNvPr id="72" name="Text 70"/>
          <p:cNvSpPr/>
          <p:nvPr/>
        </p:nvSpPr>
        <p:spPr>
          <a:xfrm>
            <a:off x="4663440" y="364845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R$ 8,00</a:t>
            </a:r>
            <a:endParaRPr lang="en-US" sz="900"/>
          </a:p>
        </p:txBody>
      </p:sp>
      <p:sp>
        <p:nvSpPr>
          <p:cNvPr id="73" name="Shape 71"/>
          <p:cNvSpPr/>
          <p:nvPr/>
        </p:nvSpPr>
        <p:spPr>
          <a:xfrm>
            <a:off x="5760720" y="1051560"/>
            <a:ext cx="2926080" cy="3154680"/>
          </a:xfrm>
          <a:prstGeom prst="roundRect">
            <a:avLst>
              <a:gd name="adj" fmla="val 2500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25312" y="11612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</a:t>
            </a:r>
            <a:endParaRPr lang="en-US" sz="1100"/>
          </a:p>
        </p:txBody>
      </p:sp>
      <p:sp>
        <p:nvSpPr>
          <p:cNvPr id="75" name="Text 73"/>
          <p:cNvSpPr/>
          <p:nvPr/>
        </p:nvSpPr>
        <p:spPr>
          <a:xfrm>
            <a:off x="5925312" y="1472184"/>
            <a:ext cx="259689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= produto. Coluna = dia. Valor = quantas unidades foram vendidas.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vendas[3, 4] = 25: foram vendidos 25 cafés na sexta.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 da linha p se chama produtos[p] e custa precos[p].</a:t>
            </a:r>
            <a:endParaRPr lang="en-US" sz="1200"/>
          </a:p>
        </p:txBody>
      </p:sp>
      <p:sp>
        <p:nvSpPr>
          <p:cNvPr id="76" name="Shape 74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matriz já começa com as vendas da semana, para dar para testar os relatórios desde o início.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 CENTRAL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uma linha ou somar uma coluna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41648" cy="2148840"/>
          </a:xfrm>
          <a:prstGeom prst="roundRect">
            <a:avLst>
              <a:gd name="adj" fmla="val 3404"/>
            </a:avLst>
          </a:prstGeom>
          <a:solidFill>
            <a:srgbClr val="0D0A1C"/>
          </a:solidFill>
          <a:ln w="15875">
            <a:solidFill>
              <a:srgbClr val="5FD3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4300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TOTALPRODUTO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376732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LINHA: tudo de UM produto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= </a:t>
            </a:r>
            <a:r>
              <a:rPr lang="en-US" sz="10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 = </a:t>
            </a:r>
            <a:r>
              <a:rPr lang="en-US" sz="10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d &lt; vendas.</a:t>
            </a:r>
            <a:r>
              <a:rPr lang="en-US" sz="1050" b="1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GetLength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d++)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vendas[produto, d];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4645152" y="1051560"/>
            <a:ext cx="4041648" cy="2148840"/>
          </a:xfrm>
          <a:prstGeom prst="roundRect">
            <a:avLst>
              <a:gd name="adj" fmla="val 3404"/>
            </a:avLst>
          </a:prstGeom>
          <a:solidFill>
            <a:srgbClr val="0D0A1C"/>
          </a:solidFill>
          <a:ln w="15875">
            <a:solidFill>
              <a:srgbClr val="FFC9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143000"/>
            <a:ext cx="37124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TOTALDIA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809744" y="1417320"/>
            <a:ext cx="376732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COLUNA: tudo de UM dia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= </a:t>
            </a:r>
            <a:r>
              <a:rPr lang="en-US" sz="10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050"/>
          </a:p>
          <a:p>
            <a:pPr marL="0" indent="0">
              <a:buNone/>
            </a:pPr>
            <a:r>
              <a:rPr lang="en-US" sz="10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10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= </a:t>
            </a:r>
            <a:r>
              <a:rPr lang="en-US" sz="10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p &lt; vendas.</a:t>
            </a:r>
            <a:r>
              <a:rPr lang="en-US" sz="1050" b="1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GetLength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p++)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+= vendas[p, dia];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3465576"/>
            <a:ext cx="79004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50" b="1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Repare: </a:t>
            </a:r>
            <a:r>
              <a:rPr lang="en-US" sz="12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é UM for só. Um índice fica parado (o produto ou o dia) e o outro anda. O for dentro de for é para quando precisa passar pela matriz inteira.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é o "pulo do gato" da atividade. Entendeu isso, o resto sai.</a:t>
            </a:r>
            <a:endParaRPr 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método pode usar outro método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0D0A1C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88720"/>
            <a:ext cx="4846320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FaturamentoProduto(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[,] vendas,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precos, 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produto)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TotalProduto(vendas, produto) * precos[produto];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/>
          </a:p>
          <a:p>
            <a:pPr marL="0" indent="0">
              <a:buNone/>
            </a:pPr>
            <a:r>
              <a:rPr lang="en-US" sz="9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FaturamentoSemana(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[,] vendas, 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 precos)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= </a:t>
            </a:r>
            <a:r>
              <a:rPr lang="en-US" sz="9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= </a:t>
            </a:r>
            <a:r>
              <a:rPr lang="en-US" sz="9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p &lt; vendas.</a:t>
            </a:r>
            <a:r>
              <a:rPr lang="en-US" sz="950" b="1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GetLength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p++)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FaturamentoProduto(vendas, precos, p);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5760720" y="1051560"/>
            <a:ext cx="2926080" cy="2743200"/>
          </a:xfrm>
          <a:prstGeom prst="roundRect">
            <a:avLst>
              <a:gd name="adj" fmla="val 2667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5312" y="11612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É BOM?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925312" y="1472184"/>
            <a:ext cx="2596896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TotalProduto já soma a linha. O FaturamentoProduto só multiplica pelo preço.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FaturamentoSemana usa o FaturamentoProduto para cada produto.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faz uma coisa só e reaproveita o que já existe.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931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do grupo: TotalProduto pronto primeiro. Sem ele, o resumo não funciona.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DOS MÉTODOS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método recebe, devolve e faz</a:t>
            </a:r>
            <a:endParaRPr lang="en-US" sz="220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118104"/>
        </p:xfrm>
        <a:graphic>
          <a:graphicData uri="http://schemas.openxmlformats.org/drawingml/2006/table">
            <a:tbl>
              <a:tblPr/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>
                          <a:solidFill>
                            <a:srgbClr val="B9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</a:t>
                      </a:r>
                      <a:endParaRPr lang="en-US" sz="9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>
                          <a:solidFill>
                            <a:srgbClr val="B9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Recebe</a:t>
                      </a:r>
                      <a:endParaRPr lang="en-US" sz="9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>
                          <a:solidFill>
                            <a:srgbClr val="B9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Devolve</a:t>
                      </a:r>
                      <a:endParaRPr lang="en-US" sz="9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 b="1">
                          <a:solidFill>
                            <a:srgbClr val="B9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</a:t>
                      </a:r>
                      <a:endParaRPr lang="en-US" sz="93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MostrarMenu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 as opções.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MostrarCardapio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produtos, precos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 os produtos com código e preço.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CodigoValido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codigo, tamanho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se o código existe no vetor.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RegistrarVenda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vendas, produto, dia, qtd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qtd na matriz. false se qtd ≤ 0.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TotalProduto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vendas, produto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a linha do produto.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TotalDia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vendas, dia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a coluna do dia.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FaturamentoProduto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vendas, precos, produto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do produto × preço.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FaturamentoSemana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vendas, precos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o faturamento de todos.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ProdutoCampeao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do produto com mais unidades.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 b="1">
                          <a:solidFill>
                            <a:srgbClr val="FFC9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DiaMaisMovimentado</a:t>
                      </a:r>
                      <a:endParaRPr lang="en-US" sz="98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vendas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8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Índice do dia com mais itens.</a:t>
                      </a:r>
                      <a:endParaRPr lang="en-US" sz="98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nomes e os parâmetros são obrigatórios: usem exatamente estes.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· CARDÁPIO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MostrarMenu, MostrarCardapio e CodigoValido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41648" cy="3108960"/>
          </a:xfrm>
          <a:prstGeom prst="roundRect">
            <a:avLst>
              <a:gd name="adj" fmla="val 2353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61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21792" y="1472184"/>
            <a:ext cx="3712464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MostrarMenu: Console.WriteLine com as opções 1 a 5 e 0. Termina com Console.Write("Opção: ").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MostrarCardapio: um for no vetor produtos. Mostra o código (i + 1), o nome e o preço com :F2.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CodigoValido: true se o código está entre 0 e tamanho − 1. Serve para o produto e para o dia.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645152" y="1051560"/>
            <a:ext cx="4041648" cy="1600200"/>
          </a:xfrm>
          <a:prstGeom prst="rect">
            <a:avLst/>
          </a:prstGeom>
          <a:solidFill>
            <a:srgbClr val="0A0A0A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45152" y="1051560"/>
            <a:ext cx="4041648" cy="219456"/>
          </a:xfrm>
          <a:prstGeom prst="rect">
            <a:avLst/>
          </a:prstGeom>
          <a:solidFill>
            <a:srgbClr val="2B2B2B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05156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de Depuração do Microsoft Visual Studio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4782312" y="1344168"/>
            <a:ext cx="376732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CARDÁPIO =====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1 - Coxinha: R$ 7,00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2 - Pão de queijo: R$ 5,00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3 - Suco: R$ 6,00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4 - Café: R$ 4,00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5 - Bolo: R$ 8,00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645152" y="2788920"/>
            <a:ext cx="4041648" cy="1371600"/>
          </a:xfrm>
          <a:prstGeom prst="roundRect">
            <a:avLst>
              <a:gd name="adj" fmla="val 5333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289864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809744" y="3209544"/>
            <a:ext cx="37124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produtos.Length no for, nunca 5 escrito na mão. Se a lanchonete lançar um produto novo, nada quebra.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CodigoValido é um só, usado duas vezes: CodigoValido(p, produtos.Length) e CodigoValido(d, dias.Length).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· VENDAS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RegistrarVenda, TotalProduto e TotalDia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108960"/>
          </a:xfrm>
          <a:prstGeom prst="roundRect">
            <a:avLst>
              <a:gd name="adj" fmla="val 2778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612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REGISTRARVENDA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21792" y="1472184"/>
            <a:ext cx="230428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 0 ou negativa: devolve false e não muda nada.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Senão: vendas[produto, dia] += qtd e devolve true.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+= (soma), não = (troca)!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3255264" y="1051560"/>
            <a:ext cx="2633472" cy="3108960"/>
          </a:xfrm>
          <a:prstGeom prst="roundRect">
            <a:avLst>
              <a:gd name="adj" fmla="val 2778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1612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5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TOTALPRODUTO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419856" y="1472184"/>
            <a:ext cx="230428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for nos dias, com o produto parado.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Coxinha: 12 + 15 + 10 + 18 + 20 = 75.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053328" y="1051560"/>
            <a:ext cx="2633472" cy="3108960"/>
          </a:xfrm>
          <a:prstGeom prst="roundRect">
            <a:avLst>
              <a:gd name="adj" fmla="val 2778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612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TOTALDIA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217920" y="1472184"/>
            <a:ext cx="2304288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for nos produtos, com o dia parado.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Segunda: 12 + 8 + 5 + 20 + 3 = 48.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RegistrarVenda muda a matriz do Main: vetor e matriz passados para o método são os mesmos.</a:t>
            </a:r>
            <a:endParaRPr lang="en-US" sz="1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· RESUMO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e campeões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612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21792" y="1472184"/>
            <a:ext cx="23042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FaturamentoProduto: TotalProduto × precos[produto].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FaturamentoSemana: soma de todos os produtos.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3255264" y="1051560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1612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PRODUTOCAMPEAO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419856" y="1472184"/>
            <a:ext cx="23042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 achando que o melhor é o 0.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o TotalProduto de cada um com o do melhor.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o índice.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053328" y="1051560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612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DIAMAISMOVIMENTADO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217920" y="1472184"/>
            <a:ext cx="2304288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ideia, com o TotalDia.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Devolve o índice do dia (0 a 4).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01568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5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COM OS DADOS INICIAIS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621792" y="3712464"/>
            <a:ext cx="79004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da semana R$ 1582,00 · produto mais vendido Café (104) · dia mais movimentado Sexta (75 itens).</a:t>
            </a:r>
            <a:endParaRPr lang="en-US" sz="1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O MAIN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tudo com do-while e switch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3154680"/>
          </a:xfrm>
          <a:prstGeom prst="roundRect">
            <a:avLst>
              <a:gd name="adj" fmla="val 2319"/>
            </a:avLst>
          </a:prstGeom>
          <a:solidFill>
            <a:srgbClr val="0D0A1C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88720"/>
            <a:ext cx="484632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8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8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80" b="1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.WriteLine(</a:t>
            </a:r>
            <a:r>
              <a:rPr lang="en-US" sz="88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"===== POR PRODUTO ====="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8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88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 = </a:t>
            </a:r>
            <a:r>
              <a:rPr lang="en-US" sz="88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p &lt; produtos.</a:t>
            </a:r>
            <a:r>
              <a:rPr lang="en-US" sz="880" b="1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p++)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8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qtd = TotalProduto(vendas, p);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80" b="1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.WriteLine(</a:t>
            </a:r>
            <a:r>
              <a:rPr lang="en-US" sz="88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$"{produtos[p]}: {qtd} unidades"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80">
                <a:solidFill>
                  <a:srgbClr val="A6A1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falta mostrar o faturamento de cada um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8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80"/>
          </a:p>
          <a:p>
            <a:pPr marL="0" indent="0">
              <a:buNone/>
            </a:pPr>
            <a:r>
              <a:rPr lang="en-US" sz="88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8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8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campeao = ProdutoCampeao(vendas);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80" b="1">
                <a:solidFill>
                  <a:srgbClr val="FFC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.WriteLine(</a:t>
            </a:r>
            <a:r>
              <a:rPr lang="en-US" sz="880">
                <a:solidFill>
                  <a:srgbClr val="7BE0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$"Mais vendido: {produtos[campeao]}"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80">
                <a:solidFill>
                  <a:srgbClr val="A6A1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falta o faturamento e o dia mais movimentado</a:t>
            </a:r>
            <a:endParaRPr lang="en-US" sz="880"/>
          </a:p>
          <a:p>
            <a:pPr marL="0" indent="0">
              <a:buNone/>
            </a:pP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8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88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80"/>
          </a:p>
        </p:txBody>
      </p:sp>
      <p:sp>
        <p:nvSpPr>
          <p:cNvPr id="8" name="Shape 6"/>
          <p:cNvSpPr/>
          <p:nvPr/>
        </p:nvSpPr>
        <p:spPr>
          <a:xfrm>
            <a:off x="5760720" y="1051560"/>
            <a:ext cx="2926080" cy="3154680"/>
          </a:xfrm>
          <a:prstGeom prst="roundRect">
            <a:avLst>
              <a:gd name="adj" fmla="val 2500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25312" y="116128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5925312" y="1472184"/>
            <a:ext cx="259689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métodos devolvem ÍNDICE. Para mostrar o nome, use o vetor: produtos[ProdutoCampeao(vendas)].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case 2 lê produto, dia e quantidade, com − 1 no produto e no dia.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precisar declarar variável no case, use chaves { } em volta.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Main é do Organizador, mas ele só funciona quando os métodos do grupo estão prontos.</a:t>
            </a:r>
            <a:endParaRPr lang="en-US" sz="1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COMEÇAR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professor entrega o esqueleto do projeto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5120640" cy="3154680"/>
          </a:xfrm>
          <a:prstGeom prst="roundRect">
            <a:avLst>
              <a:gd name="adj" fmla="val 2319"/>
            </a:avLst>
          </a:prstGeom>
          <a:solidFill>
            <a:srgbClr val="0D0A1C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43000"/>
            <a:ext cx="4791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PROGRAM.CS (TRECHO)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621792" y="1417320"/>
            <a:ext cx="4846320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>
                <a:solidFill>
                  <a:srgbClr val="A6A1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Responsável: ________</a:t>
            </a:r>
            <a:endParaRPr lang="en-US" sz="950"/>
          </a:p>
          <a:p>
            <a:pPr marL="0" indent="0">
              <a:buNone/>
            </a:pPr>
            <a:r>
              <a:rPr lang="en-US" sz="9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TotalProduto(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[,] vendas, 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produto)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>
                <a:solidFill>
                  <a:srgbClr val="A6A1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TODO: somar a LINHA do produto (todos os dias)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A6A1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Responsável: ________</a:t>
            </a:r>
            <a:endParaRPr lang="en-US" sz="950"/>
          </a:p>
          <a:p>
            <a:pPr marL="0" indent="0">
              <a:buNone/>
            </a:pPr>
            <a:r>
              <a:rPr lang="en-US" sz="9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ProdutoCampeao(</a:t>
            </a:r>
            <a:r>
              <a:rPr lang="en-US" sz="950" b="1">
                <a:solidFill>
                  <a:srgbClr val="5FD3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[,] vendas)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>
                <a:solidFill>
                  <a:srgbClr val="A6A1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TODO: devolver o ÍNDICE do produto com mais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>
                <a:solidFill>
                  <a:srgbClr val="A6A1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unidades vendidas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50">
                <a:solidFill>
                  <a:srgbClr val="F7A2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EEE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5760720" y="1143000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143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6172200" y="1106424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o projeto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do Console (.NET Framework).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5760720" y="1856232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172200" y="1819656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 o esqueleto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Program.cs, trocando tudo.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5760720" y="2569464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2569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6172200" y="2532888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roda!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e o menu já estão lá.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5760720" y="3282696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0" y="32826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6172200" y="3246120"/>
            <a:ext cx="2514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os TODO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no seu método. Escreva seu nome.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"return false" e o "return 0" estão lá só para compilar. Apague quando fizer o método.</a:t>
            </a:r>
            <a:endParaRPr lang="en-US" sz="12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ANTES DE ENTREGAR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precisa dar o resultado da direita</a:t>
            </a:r>
            <a:endParaRPr lang="en-US" sz="22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8229600" cy="3044952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B9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Ação (na ordem)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B9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esperado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 1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5 produtos com código e preço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 3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Coxinha 75 · R$ 525,00 ... Café 104 · R$ 416,00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 4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 48 · Ter 54 · Qua 52 · Qui 59 · Sex 75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 5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R$ 1582,00 · Café · Sex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produto 5, dia 1, quantidade 10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Venda registrada: 10 x Bolo na Seg.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Opções 3 e 4 de novo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Bolo 30 · R$ 240,00  e  Seg 58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 produto 9 ou quantidade 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de erro, sem o programa quebrar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Opção 5 de novo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Faturamento R$ 1662,00</a:t>
                      </a:r>
                      <a:endParaRPr lang="en-US" sz="11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315968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315968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integrante testa o código do outro. Quem fez o método é o pior testador dele.</a:t>
            </a:r>
            <a:endParaRPr 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BÔNUS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terminar antes: opções 6, 7 e 8 do menu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33472" cy="3017520"/>
          </a:xfrm>
          <a:prstGeom prst="roundRect">
            <a:avLst>
              <a:gd name="adj" fmla="val 2778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612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MAIS LUCRATIVO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21792" y="1472184"/>
            <a:ext cx="230428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ProdutoMaisLucrativo(vendas, precos): o produto que mais DEU DINHEIRO. Surpresa: não é o Café! Descubram quem é e expliquem por quê.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3255264" y="1051560"/>
            <a:ext cx="2633472" cy="3017520"/>
          </a:xfrm>
          <a:prstGeom prst="roundRect">
            <a:avLst>
              <a:gd name="adj" fmla="val 2778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1612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MÉDIA POR DIA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3419856" y="1472184"/>
            <a:ext cx="230428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MediaPorDia(vendas, produto): quantas unidades o produto vende por dia, em média. Café: 20,8. Cuidado com a divisão de inteiros!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053328" y="1051560"/>
            <a:ext cx="2633472" cy="3017520"/>
          </a:xfrm>
          <a:prstGeom prst="roundRect">
            <a:avLst>
              <a:gd name="adj" fmla="val 2778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6128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REAJUSTE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217920" y="1472184"/>
            <a:ext cx="230428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AplicarReajuste(precos, percentual): aumenta todos os preços. 10% deixa a Coxinha em R$ 7,70. O método muda o vetor do Main.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B1 rende uma ótima discussão: vender mais não é o mesmo que faturar mais.</a:t>
            </a:r>
            <a:endParaRPr lang="en-US" sz="1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DO JOGO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Valem para todos os grupos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41648" cy="914400"/>
          </a:xfrm>
          <a:prstGeom prst="roundRect">
            <a:avLst>
              <a:gd name="adj" fmla="val 8000"/>
            </a:avLst>
          </a:prstGeom>
          <a:solidFill>
            <a:srgbClr val="231C3F"/>
          </a:solidFill>
          <a:ln w="12700">
            <a:solidFill>
              <a:srgbClr val="231C3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353312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1060704" y="1051560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lógica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comando pronto para somar, contar ou achar o maior. Tudo com for e if.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4041648" cy="914400"/>
          </a:xfrm>
          <a:prstGeom prst="roundRect">
            <a:avLst>
              <a:gd name="adj" fmla="val 8000"/>
            </a:avLst>
          </a:prstGeom>
          <a:solidFill>
            <a:srgbClr val="231C3F"/>
          </a:solidFill>
          <a:ln w="12700">
            <a:solidFill>
              <a:srgbClr val="231C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2377440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1060704" y="2075688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do Console (.NET Framework). Um projeto por grupo.</a:t>
            </a:r>
            <a:endParaRPr lang="en-US" sz="1300"/>
          </a:p>
        </p:txBody>
      </p:sp>
      <p:sp>
        <p:nvSpPr>
          <p:cNvPr id="14" name="Shape 12"/>
          <p:cNvSpPr/>
          <p:nvPr/>
        </p:nvSpPr>
        <p:spPr>
          <a:xfrm>
            <a:off x="457200" y="3099816"/>
            <a:ext cx="4041648" cy="914400"/>
          </a:xfrm>
          <a:prstGeom prst="roundRect">
            <a:avLst>
              <a:gd name="adj" fmla="val 8000"/>
            </a:avLst>
          </a:prstGeom>
          <a:solidFill>
            <a:srgbClr val="231C3F"/>
          </a:solidFill>
          <a:ln w="12700">
            <a:solidFill>
              <a:srgbClr val="231C3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401568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1060704" y="3099816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Nomes do mapa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métodos e parâmetros com exatamente os nomes do slide "Mapa dos métodos".</a:t>
            </a:r>
            <a:endParaRPr lang="en-US" sz="1300"/>
          </a:p>
        </p:txBody>
      </p:sp>
      <p:sp>
        <p:nvSpPr>
          <p:cNvPr id="18" name="Shape 16"/>
          <p:cNvSpPr/>
          <p:nvPr/>
        </p:nvSpPr>
        <p:spPr>
          <a:xfrm>
            <a:off x="4645152" y="1051560"/>
            <a:ext cx="4041648" cy="914400"/>
          </a:xfrm>
          <a:prstGeom prst="roundRect">
            <a:avLst>
              <a:gd name="adj" fmla="val 8000"/>
            </a:avLst>
          </a:prstGeom>
          <a:solidFill>
            <a:srgbClr val="231C3F"/>
          </a:solidFill>
          <a:ln w="12700">
            <a:solidFill>
              <a:srgbClr val="231C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9744" y="1353312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9744" y="1353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5248656" y="1051560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no método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 // Responsável: com o nome de quem fez cada método.</a:t>
            </a:r>
            <a:endParaRPr lang="en-US" sz="1300"/>
          </a:p>
        </p:txBody>
      </p:sp>
      <p:sp>
        <p:nvSpPr>
          <p:cNvPr id="22" name="Shape 20"/>
          <p:cNvSpPr/>
          <p:nvPr/>
        </p:nvSpPr>
        <p:spPr>
          <a:xfrm>
            <a:off x="4645152" y="2075688"/>
            <a:ext cx="4041648" cy="914400"/>
          </a:xfrm>
          <a:prstGeom prst="roundRect">
            <a:avLst>
              <a:gd name="adj" fmla="val 8000"/>
            </a:avLst>
          </a:prstGeom>
          <a:solidFill>
            <a:srgbClr val="231C3F"/>
          </a:solidFill>
          <a:ln w="12700">
            <a:solidFill>
              <a:srgbClr val="231C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2377440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9744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/>
          </a:p>
        </p:txBody>
      </p:sp>
      <p:sp>
        <p:nvSpPr>
          <p:cNvPr id="25" name="Text 23"/>
          <p:cNvSpPr/>
          <p:nvPr/>
        </p:nvSpPr>
        <p:spPr>
          <a:xfrm>
            <a:off x="5248656" y="2075688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 colegas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tirar dúvida, mas quem não souber explicar o código não leva a nota.</a:t>
            </a:r>
            <a:endParaRPr lang="en-US" sz="1300"/>
          </a:p>
        </p:txBody>
      </p:sp>
      <p:sp>
        <p:nvSpPr>
          <p:cNvPr id="26" name="Shape 24"/>
          <p:cNvSpPr/>
          <p:nvPr/>
        </p:nvSpPr>
        <p:spPr>
          <a:xfrm>
            <a:off x="4645152" y="3099816"/>
            <a:ext cx="4041648" cy="914400"/>
          </a:xfrm>
          <a:prstGeom prst="roundRect">
            <a:avLst>
              <a:gd name="adj" fmla="val 8000"/>
            </a:avLst>
          </a:prstGeom>
          <a:solidFill>
            <a:srgbClr val="231C3F"/>
          </a:solidFill>
          <a:ln w="12700">
            <a:solidFill>
              <a:srgbClr val="231C3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09744" y="3401568"/>
            <a:ext cx="310896" cy="310896"/>
          </a:xfrm>
          <a:prstGeom prst="ellipse">
            <a:avLst/>
          </a:prstGeom>
          <a:solidFill>
            <a:srgbClr val="B98CFF"/>
          </a:solidFill>
          <a:ln w="12700">
            <a:solidFill>
              <a:srgbClr val="B98C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9744" y="3401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120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/>
          </a:p>
        </p:txBody>
      </p:sp>
      <p:sp>
        <p:nvSpPr>
          <p:cNvPr id="29" name="Text 27"/>
          <p:cNvSpPr/>
          <p:nvPr/>
        </p:nvSpPr>
        <p:spPr>
          <a:xfrm>
            <a:off x="5248656" y="3099816"/>
            <a:ext cx="3346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quebrar</a:t>
            </a:r>
            <a:endParaRPr lang="en-US" sz="1300"/>
          </a:p>
          <a:p>
            <a:pPr marL="0" indent="0">
              <a:buNone/>
            </a:pPr>
            <a:r>
              <a:rPr lang="en-US" sz="11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ou quantidade inválida mostra mensagem, não fecha o programa.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Digitar letra onde se espera número ainda quebra o int.Parse. Isso não conta como erro do grupo.</a:t>
            </a:r>
            <a:endParaRPr lang="en-US"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grupo mostra o sistema rodando (10 minutos)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33472" cy="2011680"/>
          </a:xfrm>
          <a:prstGeom prst="roundRect">
            <a:avLst>
              <a:gd name="adj" fmla="val 4545"/>
            </a:avLst>
          </a:prstGeom>
          <a:solidFill>
            <a:srgbClr val="231C3F"/>
          </a:solidFill>
          <a:ln w="19050">
            <a:solidFill>
              <a:srgbClr val="B98C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faz os testes do slide de testes ao vivo.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3255264" y="1097280"/>
            <a:ext cx="2633472" cy="2011680"/>
          </a:xfrm>
          <a:prstGeom prst="roundRect">
            <a:avLst>
              <a:gd name="adj" fmla="val 4545"/>
            </a:avLst>
          </a:prstGeom>
          <a:solidFill>
            <a:srgbClr val="231C3F"/>
          </a:solidFill>
          <a:ln w="19050">
            <a:solidFill>
              <a:srgbClr val="5FD3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264" y="11887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5F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3255264" y="16916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3438144" y="210312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professor sorteia um método para cada integrante explicar, linha a linha.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053328" y="1097280"/>
            <a:ext cx="2633472" cy="2011680"/>
          </a:xfrm>
          <a:prstGeom prst="roundRect">
            <a:avLst>
              <a:gd name="adj" fmla="val 4545"/>
            </a:avLst>
          </a:prstGeom>
          <a:solidFill>
            <a:srgbClr val="231C3F"/>
          </a:solidFill>
          <a:ln w="19050">
            <a:solidFill>
              <a:srgbClr val="FFC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188720"/>
            <a:ext cx="2633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C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/>
          </a:p>
        </p:txBody>
      </p:sp>
      <p:sp>
        <p:nvSpPr>
          <p:cNvPr id="16" name="Text 14"/>
          <p:cNvSpPr/>
          <p:nvPr/>
        </p:nvSpPr>
        <p:spPr>
          <a:xfrm>
            <a:off x="6053328" y="169164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Alterar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236208" y="210312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professor pede uma mudança pequena ao vivo. Ex.: "inclua o sábado" ou "o suco agora custa 7".</a:t>
            </a:r>
            <a:endParaRPr lang="en-US" sz="1150"/>
          </a:p>
        </p:txBody>
      </p:sp>
      <p:sp>
        <p:nvSpPr>
          <p:cNvPr id="18" name="Shape 16"/>
          <p:cNvSpPr/>
          <p:nvPr/>
        </p:nvSpPr>
        <p:spPr>
          <a:xfrm>
            <a:off x="457200" y="32461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355848"/>
            <a:ext cx="7900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ASSIM?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621792" y="3666744"/>
            <a:ext cx="7900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Programar em equipe é isso: cada um faz uma parte, mas todo mundo entende o sistema. Quem souber explicar e alterar mostra que aprendeu de verdade.</a:t>
            </a:r>
            <a:endParaRPr 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nota é composta</a:t>
            </a:r>
            <a:endParaRPr lang="en-US" sz="22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24128"/>
          <a:ext cx="5120640" cy="3044952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B9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5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B98C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5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MostrarMenu, MostrarCardapio e CodigoValido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RegistrarVenda, TotalProduto e TotalDia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Faturamentos, ProdutoCampeao e DiaMaisMovimentado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Main: menu, switch e mensagens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Explicação individual do método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Alteração ao vivo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FFC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1C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Bônus B1, B2 e B3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>
                          <a:solidFill>
                            <a:srgbClr val="EEEC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 cada</a:t>
                      </a:r>
                      <a:endParaRPr lang="en-US" sz="10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34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6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24128"/>
            <a:ext cx="2926080" cy="3044952"/>
          </a:xfrm>
          <a:prstGeom prst="roundRect">
            <a:avLst>
              <a:gd name="adj" fmla="val 2500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25312" y="113385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100"/>
          </a:p>
        </p:txBody>
      </p:sp>
      <p:sp>
        <p:nvSpPr>
          <p:cNvPr id="9" name="Text 6"/>
          <p:cNvSpPr/>
          <p:nvPr/>
        </p:nvSpPr>
        <p:spPr>
          <a:xfrm>
            <a:off x="5925312" y="1444752"/>
            <a:ext cx="2596896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itens de código são do grupo.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explicação e a alteração são de cada aluno: a nota pode ser diferente dentro do mesmo grupo.</a:t>
            </a:r>
            <a:endParaRPr lang="en-US" sz="1150"/>
          </a:p>
          <a:p>
            <a:pPr marL="0" indent="0">
              <a:spcAft>
                <a:spcPts val="500"/>
              </a:spcAft>
              <a:buNone/>
            </a:pPr>
            <a:r>
              <a:rPr lang="en-US" sz="115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que não compila: o grupo corrige antes de apresentar.</a:t>
            </a:r>
            <a:endParaRPr lang="en-US" sz="1150"/>
          </a:p>
        </p:txBody>
      </p:sp>
      <p:sp>
        <p:nvSpPr>
          <p:cNvPr id="10" name="Shape 7"/>
          <p:cNvSpPr/>
          <p:nvPr/>
        </p:nvSpPr>
        <p:spPr>
          <a:xfrm>
            <a:off x="457200" y="42062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B98C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2062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Testem tudo antes da apresentação. Erro na hora custa ponto.</a:t>
            </a:r>
            <a:endParaRPr lang="en-US" sz="12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 DA AULA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para 4 horas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229600" cy="338328"/>
          </a:xfrm>
          <a:prstGeom prst="rect">
            <a:avLst/>
          </a:prstGeom>
          <a:solidFill>
            <a:srgbClr val="231C3F"/>
          </a:solidFill>
          <a:ln w="12700">
            <a:solidFill>
              <a:srgbClr val="1511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00:00–00:20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920240" y="102412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657600" y="1024128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Missão, dados, linha x coluna, mapa dos métodos e regras. Formar os grupos.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457200" y="1399032"/>
            <a:ext cx="8229600" cy="338328"/>
          </a:xfrm>
          <a:prstGeom prst="rect">
            <a:avLst/>
          </a:prstGeom>
          <a:solidFill>
            <a:srgbClr val="231C3F"/>
          </a:solidFill>
          <a:ln w="12700">
            <a:solidFill>
              <a:srgbClr val="1511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399032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00:20–00:30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920240" y="139903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3657600" y="1399032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 projeto, colar o esqueleto, dividir os papéis.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457200" y="1773936"/>
            <a:ext cx="8229600" cy="338328"/>
          </a:xfrm>
          <a:prstGeom prst="rect">
            <a:avLst/>
          </a:prstGeom>
          <a:solidFill>
            <a:srgbClr val="231C3F"/>
          </a:solidFill>
          <a:ln w="12700">
            <a:solidFill>
              <a:srgbClr val="1511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77393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00:30–01:00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920240" y="177393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3657600" y="1773936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Menu, cardápio e validação.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57200" y="2148840"/>
            <a:ext cx="8229600" cy="338328"/>
          </a:xfrm>
          <a:prstGeom prst="rect">
            <a:avLst/>
          </a:prstGeom>
          <a:solidFill>
            <a:srgbClr val="231C3F"/>
          </a:solidFill>
          <a:ln w="12700">
            <a:solidFill>
              <a:srgbClr val="1511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14884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01:00–02:00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1920240" y="214884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Etapas 2 e 3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3657600" y="2148840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 e resumo, em paralelo no grupo.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57200" y="2523744"/>
            <a:ext cx="8229600" cy="338328"/>
          </a:xfrm>
          <a:prstGeom prst="rect">
            <a:avLst/>
          </a:prstGeom>
          <a:solidFill>
            <a:srgbClr val="2E2552"/>
          </a:solidFill>
          <a:ln w="12700">
            <a:solidFill>
              <a:srgbClr val="1511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523744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02:00–02:15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1920240" y="2523744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3657600" y="2523744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457200" y="2898648"/>
            <a:ext cx="8229600" cy="338328"/>
          </a:xfrm>
          <a:prstGeom prst="rect">
            <a:avLst/>
          </a:prstGeom>
          <a:solidFill>
            <a:srgbClr val="231C3F"/>
          </a:solidFill>
          <a:ln w="12700">
            <a:solidFill>
              <a:srgbClr val="1511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898648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02:15–02:50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1920240" y="2898648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3657600" y="2898648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Juntar tudo no Main.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457200" y="3273552"/>
            <a:ext cx="8229600" cy="338328"/>
          </a:xfrm>
          <a:prstGeom prst="rect">
            <a:avLst/>
          </a:prstGeom>
          <a:solidFill>
            <a:srgbClr val="231C3F"/>
          </a:solidFill>
          <a:ln w="12700">
            <a:solidFill>
              <a:srgbClr val="1511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273552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02:50–03:10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1920240" y="3273552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e bônus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3657600" y="3273552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tabela de testes. Quem terminar vai para os bônus.</a:t>
            </a:r>
            <a:endParaRPr lang="en-US" sz="1050"/>
          </a:p>
        </p:txBody>
      </p:sp>
      <p:sp>
        <p:nvSpPr>
          <p:cNvPr id="34" name="Shape 32"/>
          <p:cNvSpPr/>
          <p:nvPr/>
        </p:nvSpPr>
        <p:spPr>
          <a:xfrm>
            <a:off x="457200" y="3648456"/>
            <a:ext cx="8229600" cy="338328"/>
          </a:xfrm>
          <a:prstGeom prst="rect">
            <a:avLst/>
          </a:prstGeom>
          <a:solidFill>
            <a:srgbClr val="231C3F"/>
          </a:solidFill>
          <a:ln w="12700">
            <a:solidFill>
              <a:srgbClr val="1511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648456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03:10–03:55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1920240" y="3648456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Apresentações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3657600" y="3648456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10 minutos por grupo: rodar, explicar, alterar.</a:t>
            </a:r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457200" y="4023360"/>
            <a:ext cx="8229600" cy="338328"/>
          </a:xfrm>
          <a:prstGeom prst="rect">
            <a:avLst/>
          </a:prstGeom>
          <a:solidFill>
            <a:srgbClr val="231C3F"/>
          </a:solidFill>
          <a:ln w="12700">
            <a:solidFill>
              <a:srgbClr val="1511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023360"/>
            <a:ext cx="1280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B9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03:55–04:00</a:t>
            </a:r>
            <a:endParaRPr lang="en-US" sz="1000"/>
          </a:p>
        </p:txBody>
      </p:sp>
      <p:sp>
        <p:nvSpPr>
          <p:cNvPr id="40" name="Text 38"/>
          <p:cNvSpPr/>
          <p:nvPr/>
        </p:nvSpPr>
        <p:spPr>
          <a:xfrm>
            <a:off x="1920240" y="4023360"/>
            <a:ext cx="1737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3657600" y="4023360"/>
            <a:ext cx="4937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do projeto no Teams.</a:t>
            </a:r>
            <a:endParaRPr lang="en-US" sz="10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51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Atividade em grupo · Técnico em Desenvolvimento de Sistemas</a:t>
            </a:r>
            <a:endParaRPr lang="en-US" sz="80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A6A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00"/>
          </a:p>
        </p:txBody>
      </p:sp>
      <p:sp>
        <p:nvSpPr>
          <p:cNvPr id="5" name="Text 3"/>
          <p:cNvSpPr/>
          <p:nvPr/>
        </p:nvSpPr>
        <p:spPr>
          <a:xfrm>
            <a:off x="457200" y="4846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mandar no Teams</a:t>
            </a:r>
            <a:endParaRPr lang="en-US" sz="220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041648" cy="2194560"/>
          </a:xfrm>
          <a:prstGeom prst="roundRect">
            <a:avLst>
              <a:gd name="adj" fmla="val 3333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61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POR GRUPO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21792" y="1472184"/>
            <a:ext cx="371246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pasta do projeto compactada em .zip.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arquivo: Lanchonete_Grupo_X.zip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comentário da entrega: o nome dos integrantes e o papel de cada um.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645152" y="1051560"/>
            <a:ext cx="4041648" cy="2194560"/>
          </a:xfrm>
          <a:prstGeom prst="roundRect">
            <a:avLst>
              <a:gd name="adj" fmla="val 3333"/>
            </a:avLst>
          </a:prstGeom>
          <a:solidFill>
            <a:srgbClr val="231C3F"/>
          </a:solidFill>
          <a:ln w="15875">
            <a:solidFill>
              <a:srgbClr val="231C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9744" y="116128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7BE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ZIPAR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809744" y="1472184"/>
            <a:ext cx="371246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// Responsável: preenchidos?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TODO sobrando?</a:t>
            </a:r>
            <a:endParaRPr lang="en-US" sz="1200"/>
          </a:p>
          <a:p>
            <a:pPr marL="0" indent="0">
              <a:spcAft>
                <a:spcPts val="500"/>
              </a:spcAft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testes passando?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231C3F"/>
          </a:solidFill>
          <a:ln w="25400">
            <a:solidFill>
              <a:srgbClr val="B9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B9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= um produto  ·  COLUNA = um dia  ·  MÉTODOS fazem as contas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457200" y="4279392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231C3F"/>
          </a:solidFill>
          <a:ln w="15875">
            <a:solidFill>
              <a:srgbClr val="FFC9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793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EE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final: para somar uma coluna da matriz, qual índice fica parado e qual anda?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7def9e-7d0b-4932-bcdd-6348ca4b4295">
      <Terms xmlns="http://schemas.microsoft.com/office/infopath/2007/PartnerControls"/>
    </lcf76f155ced4ddcb4097134ff3c332f>
    <TaxCatchAll xmlns="832de14e-6b31-4ddf-910c-9c592f42887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62BD99CA97DC642817CAEF91C8BA84B" ma:contentTypeVersion="10" ma:contentTypeDescription="Crie um novo documento." ma:contentTypeScope="" ma:versionID="529d3cb654471c2a6c2ee60c1eecaabe">
  <xsd:schema xmlns:xsd="http://www.w3.org/2001/XMLSchema" xmlns:xs="http://www.w3.org/2001/XMLSchema" xmlns:p="http://schemas.microsoft.com/office/2006/metadata/properties" xmlns:ns2="9f7def9e-7d0b-4932-bcdd-6348ca4b4295" xmlns:ns3="832de14e-6b31-4ddf-910c-9c592f42887c" targetNamespace="http://schemas.microsoft.com/office/2006/metadata/properties" ma:root="true" ma:fieldsID="6ec49e8f924fea29a3adc20cd15312c7" ns2:_="" ns3:_="">
    <xsd:import namespace="9f7def9e-7d0b-4932-bcdd-6348ca4b4295"/>
    <xsd:import namespace="832de14e-6b31-4ddf-910c-9c592f4288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def9e-7d0b-4932-bcdd-6348ca4b42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8bee0d7d-e0dd-4976-8ad4-cb0783d2a53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2de14e-6b31-4ddf-910c-9c592f42887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9bc3174-2a87-40e4-9510-97b39e75141a}" ma:internalName="TaxCatchAll" ma:showField="CatchAllData" ma:web="832de14e-6b31-4ddf-910c-9c592f4288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7FFD99-219A-4E0D-8660-B3247B4543E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EBACE65-DAB2-45CF-BF9C-AAA9E76CFEEC}">
  <ds:schemaRefs>
    <ds:schemaRef ds:uri="832de14e-6b31-4ddf-910c-9c592f42887c"/>
    <ds:schemaRef ds:uri="9f7def9e-7d0b-4932-bcdd-6348ca4b4295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168E036-DEDA-486A-9F48-0D012EEABFDF}">
  <ds:schemaRefs>
    <ds:schemaRef ds:uri="832de14e-6b31-4ddf-910c-9c592f42887c"/>
    <ds:schemaRef ds:uri="9f7def9e-7d0b-4932-bcdd-6348ca4b42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20</Slides>
  <Notes>20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Atividade em grupo: Lanchonete Senac</dc:title>
  <dc:subject>PptxGenJS Presentation</dc:subject>
  <dc:creator>PptxGenJS</dc:creator>
  <cp:revision>1</cp:revision>
  <dcterms:created xsi:type="dcterms:W3CDTF">2026-10-29T11:02:31Z</dcterms:created>
  <dcterms:modified xsi:type="dcterms:W3CDTF">2026-10-29T12:06:52Z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0x010100962BD99CA97DC642817CAEF91C8BA84B</vt:lpwstr>
  </property>
  <property fmtid="{D5CDD505-2E9C-101B-9397-08002B2CF9AE}" pid="3" name="MediaServiceImageTags">
    <vt:lpwstr/>
  </property>
</Properties>
</file>